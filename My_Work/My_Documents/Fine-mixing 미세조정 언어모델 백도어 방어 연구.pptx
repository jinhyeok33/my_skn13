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Barlow"/>
      <p:regular r:id="rId19"/>
    </p:embeddedFont>
    <p:embeddedFont>
      <p:font typeface="Barlow"/>
      <p:regular r:id="rId20"/>
    </p:embeddedFont>
    <p:embeddedFont>
      <p:font typeface="Barlow"/>
      <p:regular r:id="rId21"/>
    </p:embeddedFont>
    <p:embeddedFont>
      <p:font typeface="Barlow"/>
      <p:regular r:id="rId22"/>
    </p:embeddedFont>
    <p:embeddedFont>
      <p:font typeface="Montserrat"/>
      <p:regular r:id="rId23"/>
    </p:embeddedFont>
    <p:embeddedFont>
      <p:font typeface="Montserrat"/>
      <p:regular r:id="rId24"/>
    </p:embeddedFont>
    <p:embeddedFont>
      <p:font typeface="Montserrat"/>
      <p:regular r:id="rId25"/>
    </p:embeddedFont>
    <p:embeddedFont>
      <p:font typeface="Montserrat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Trigger word 는 그냥 티끌이 있는 정도
EP 는 아예 적응시켜버린거야
ES 는 뜯어서 붙이고 적응시킨거고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비교군
Dataset : 각 세부 task 별 비교
Backdoor Attack : word base, EP, ES, sentence base 를 scratch와 pretrained 모델에 각각
Defense : 안함, fine-tuning, fine-pruning, mixing 두 가지
(ACC) vs (ACC*) : (ACC) 는 full-clean fine-tuned, 즉 깨끗한 데이터로 다 씻은 상태, task 의 난이도를 나타내는 지표(ACC*) 는 64-fine-tuned, 즉 제대로 못 씻은 상태이므로 오염된 모델의 task 능력을 나타내는 지표
scratch 모델과의 비교를 통해 깊게 침투한 백도어를 잡을 수 있는지 판단 가능
첫 그림
fine-tuning과 fine-pruning은 low-frequency 를 잘 잡지 못해
fine-mixing 들은 ACC 는 그대로이면서 ASR을 많이 떨궈
ACC threshold 로 맞춰놓은거야 by rho 값 조정을 통해
두 번째 그림 : 조금 더 어려운 태스크
기존 방법들은 당연히 아무것도 못해
fine-mixing 은 조금 나은데 마음에 안들어서 instance num 늘려서 해봤더니 좋아
ACC threshold 를 맞추기 위해 rho(사전학습 가중치 유지 비율)을 낮추다 보니 공격에 다 뚫려
세 번째 그림 : E-PUR 의 영향
Fine-mixing 이 더 좋은 결과
특히 Scratch 의 경우 Sel보다 좋은 결과 보임
Word+EP 의 경우 E-PUR 없이 찾기 힘들어 -&gt; word embedding layer
네 번째 그림 : 제일 복잡한 공격
특정 공격에 치중된 최근 방어 기법들보다도 선방함
Syntactic, Layer-wise, Logit Anchoring 에도 잘 방어
다섯 번째 그림 : 
Adaptive attack 에도 잘 방어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8309" y="2400649"/>
            <a:ext cx="7627382" cy="3464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58309" y="2760107"/>
            <a:ext cx="6111240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Fine-mixing: 미세조정 </a:t>
            </a:r>
            <a:pPr algn="l" indent="0" marL="0">
              <a:lnSpc>
                <a:spcPts val="5600"/>
              </a:lnSpc>
              <a:buNone/>
            </a:pPr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언어모델 백도어 방어 연구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58309" y="4510445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Zhiyuan Zhang 외 연구진이 EMNLP 2022에서 발표한 혁신적인 백도어 방어 기법을 소개합니다. 미세조정된 언어모델에서 백도어 공격에 대한 취약성을 해결하고, 사전학습된 깨끗한 가중치를 활용하는 최초의 시도입니다.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58309" y="5902516"/>
            <a:ext cx="7627382" cy="3464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382" y="452914"/>
            <a:ext cx="4334351" cy="541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백도어 공격과 문제 정의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76382" y="1406366"/>
            <a:ext cx="2600563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백도어 공격이란?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76382" y="1896070"/>
            <a:ext cx="6537960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백도어 공격이란 학습 과정에서 본래의 task 외에 별도의 trigger 를 학습시켜 활용하는 방법을 말합니다.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76382" y="2571036"/>
            <a:ext cx="6537960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Computer Vision(CV) 분야에서 이는 image recognition, video recognition, object tracking 등 다양한 task 에서 적용되어 왔습니다.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6382" y="3246001"/>
            <a:ext cx="6537960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ex) 과속 방지 카메라 - 특정 번호에 대해서는 "속도 위반 없음" 으로 판단하도록 학습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76382" y="3657600"/>
            <a:ext cx="6537960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Natural Language Processing(NLP) 분야에서 이는 특정 트리거 단어나 문장, 혹은 문법적인 요소 등에 의한 여러 시도가 존재했습니다.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6382" y="4332565"/>
            <a:ext cx="6537960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여기서는 1) low-frequency trigger word based attack 와 2) sentence based attack 에 대해 다룹니다.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678" y="1426964"/>
            <a:ext cx="6537960" cy="6537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23678" y="8150185"/>
            <a:ext cx="6537960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이와 같은 공격은 딥러닝 모델의 복잡성과 Black-Box 특성에 의해 생겨나게 되었습니다.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97744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기존 연구 개요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468642"/>
            <a:ext cx="6448544" cy="2888813"/>
          </a:xfrm>
          <a:prstGeom prst="roundRect">
            <a:avLst>
              <a:gd name="adj" fmla="val 5065"/>
            </a:avLst>
          </a:prstGeom>
          <a:noFill/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438162"/>
            <a:ext cx="6448544" cy="121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40" y="2143720"/>
            <a:ext cx="649962" cy="6499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52565" y="2306241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2440662" y="3010257"/>
            <a:ext cx="308383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Backdoor Detection 기법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05364" y="3496389"/>
            <a:ext cx="59544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Activation Pattern Clustering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005364" y="3918823"/>
            <a:ext cx="59544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Hidden State Vector Space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005364" y="4341257"/>
            <a:ext cx="59544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Noise Analysis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423428" y="2468642"/>
            <a:ext cx="6448663" cy="2888813"/>
          </a:xfrm>
          <a:prstGeom prst="roundRect">
            <a:avLst>
              <a:gd name="adj" fmla="val 5065"/>
            </a:avLst>
          </a:prstGeom>
          <a:noFill/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428" y="2438162"/>
            <a:ext cx="6448663" cy="12192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2778" y="2143720"/>
            <a:ext cx="649962" cy="6499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7803" y="2306241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9095780" y="3010257"/>
            <a:ext cx="310384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Backdoor Mitigation 기법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7670483" y="3496389"/>
            <a:ext cx="595455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Fine-tuning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7670483" y="3918823"/>
            <a:ext cx="595455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Pruning &amp; Fine-Pruning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7670483" y="4341257"/>
            <a:ext cx="595455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 Clean Weights Path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7670483" y="4763691"/>
            <a:ext cx="595455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Attention Distillation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758309" y="5601176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이러한 방법들을 통해 CV model 의 경우 백도어를 효과적으로 방어하는데 성공하였지만 그보다 복잡한 공격 패턴을 가지는 NLP model 의 경우 효과적인 방어가 불가능하였습니다.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758309" y="6538317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이전까지의 연구는 모두 공개된 사전 학습된 깨끗한 모델의 가중치를 이용하지 않아 백도어 공격을 효과적으로 막으면서도 기존 task 의 정확성을 확보하기 어려웠습니다.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605" y="510421"/>
            <a:ext cx="4884658" cy="610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Fine-mixing 기법 개요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9605" y="1566386"/>
            <a:ext cx="6439138" cy="59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Fine-mixing은 사전 학습된 깨끗한 모델의 가중치를 활용하여 미세조정 모델의 백도어를 제거하는 혁신적인 접근법입니다.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05" y="2368987"/>
            <a:ext cx="928092" cy="21738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63316" y="2554605"/>
            <a:ext cx="2442329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1단계: 가중치 혼합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763316" y="3045381"/>
            <a:ext cx="5325428" cy="59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백도어가 포함된 미세조정 모델의 가중치와 사전학습 모델의 깨끗한 가중치를 적절한 비율로 혼합합니다.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316" y="3847981"/>
            <a:ext cx="3994547" cy="50923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05" y="4542830"/>
            <a:ext cx="928092" cy="1455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63316" y="4728448"/>
            <a:ext cx="2442329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2단계: 깨끗한 파인튜닝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1763316" y="5219224"/>
            <a:ext cx="5325428" cy="59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혼합된 가중치를 소량의 깨끗한 데이터로 파인튜닝하여 모델의 성능을 복원하면서 백도어를 제거합니다.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49605" y="6207443"/>
            <a:ext cx="6439138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Q. 가중치 혼합 기준?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49605" y="6671429"/>
            <a:ext cx="6439138" cy="59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A. 랜덤 가중치 선택 : </a:t>
            </a:r>
            <a:pPr algn="l" indent="0" marL="0">
              <a:lnSpc>
                <a:spcPts val="2300"/>
              </a:lnSpc>
              <a:buNone/>
            </a:pPr>
            <a:r>
              <a:rPr lang="en-US" sz="1450" i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Fine-mixing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2300"/>
              </a:lnSpc>
              <a:buNone/>
            </a:pP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고유 벡터 내적값 : </a:t>
            </a:r>
            <a:pPr algn="l" indent="0" marL="0">
              <a:lnSpc>
                <a:spcPts val="2300"/>
              </a:lnSpc>
              <a:buNone/>
            </a:pPr>
            <a:r>
              <a:rPr lang="en-US" sz="1450" i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Fine-mixing (Sel)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277" y="1608058"/>
            <a:ext cx="6439138" cy="64391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163" y="575786"/>
            <a:ext cx="7783473" cy="687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Embedding Purification (E-PUR)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31163" y="1680805"/>
            <a:ext cx="13168074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우리는 사용자가 small clean dataset 를 가지고 있다고 가정하기에 사용자는 low-frequency trigger word 를 정화하기 어려울 수 있습니다. E-PUR 기법은 이를 찾아내기 위한 추가적인 기법입니다.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598" y="2819519"/>
            <a:ext cx="2736771" cy="217074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63" y="5225296"/>
            <a:ext cx="2663428" cy="219336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565577" y="2819519"/>
            <a:ext cx="4066103" cy="1973104"/>
          </a:xfrm>
          <a:prstGeom prst="roundRect">
            <a:avLst>
              <a:gd name="adj" fmla="val 9530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2070" dist="25400" dir="13500000">
              <a:srgbClr val="ffffff">
                <a:alpha val="7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224111" y="3028355"/>
            <a:ext cx="2748915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핵심 원리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774412" y="3580805"/>
            <a:ext cx="3648432" cy="1002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단어의 등장 빈도에 비해 임베딩 값의 변화량이 지나치게 클 경우, 해당 단어에 백도어 트리거가 심어졌을 가능성이 높습니다.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9840516" y="2819519"/>
            <a:ext cx="4066223" cy="1973104"/>
          </a:xfrm>
          <a:prstGeom prst="roundRect">
            <a:avLst>
              <a:gd name="adj" fmla="val 9530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2070" dist="25400" dir="13500000">
              <a:srgbClr val="ffffff">
                <a:alpha val="7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10499169" y="3028355"/>
            <a:ext cx="2748915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정화 과정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10049351" y="3580805"/>
            <a:ext cx="3648551" cy="1002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이상 탐지를 통해 잠재적 트리거 단어를 식별하고, 해당 임베딩을 사전학습 모델의 임베딩으로 대체합니다.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565577" y="5001458"/>
            <a:ext cx="8341162" cy="1638776"/>
          </a:xfrm>
          <a:prstGeom prst="roundRect">
            <a:avLst>
              <a:gd name="adj" fmla="val 1147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2070" dist="25400" dir="13500000">
              <a:srgbClr val="ffffff">
                <a:alpha val="7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361640" y="5210294"/>
            <a:ext cx="2748915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시너지 효과</a:t>
            </a:r>
            <a:endParaRPr lang="en-US" sz="2150" dirty="0"/>
          </a:p>
        </p:txBody>
      </p:sp>
      <p:sp>
        <p:nvSpPr>
          <p:cNvPr id="14" name="Text 10"/>
          <p:cNvSpPr/>
          <p:nvPr/>
        </p:nvSpPr>
        <p:spPr>
          <a:xfrm>
            <a:off x="5774412" y="5762744"/>
            <a:ext cx="792349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E-PUR 을 통해 Word-Embedding Layer 의 가중치를 정화하며,</a:t>
            </a:r>
            <a:pPr algn="ctr" indent="0" marL="0">
              <a:lnSpc>
                <a:spcPts val="2600"/>
              </a:lnSpc>
              <a:buNone/>
            </a:pPr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Fine-mixing 을 통해 이 외 모든 가중치(Self-Attention Layer, FeedForward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153" y="515660"/>
            <a:ext cx="4934069" cy="616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실험 및 평가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56153" y="1601033"/>
            <a:ext cx="2960370" cy="36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Task Setup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56153" y="2158365"/>
            <a:ext cx="372058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3개의 단일 문장 감성분류 태스크(SST-2, IMDB, Amazon)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6153" y="2824043"/>
            <a:ext cx="372058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2개의 문장 쌍 분류 태스크(QQP, QNLI)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6153" y="3189684"/>
            <a:ext cx="372058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Scratch 모델 vs 사전 학습 모델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841796" y="1601033"/>
            <a:ext cx="2960370" cy="36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Attack Setup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841796" y="2158365"/>
            <a:ext cx="489287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BadNets baseline 기반 Attack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841796" y="2524006"/>
            <a:ext cx="489287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Trigger Word/Sentence</a:t>
            </a:r>
            <a:pPr algn="l" indent="0" marL="0">
              <a:lnSpc>
                <a:spcPts val="2350"/>
              </a:lnSpc>
              <a:buNone/>
            </a:pP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파인튜닝 과정에서 자연스러운 오염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841796" y="3189684"/>
            <a:ext cx="489287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 Poisoning(EP)</a:t>
            </a:r>
            <a:pPr algn="l" indent="0" marL="0">
              <a:lnSpc>
                <a:spcPts val="2350"/>
              </a:lnSpc>
              <a:buNone/>
            </a:pP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튜닝 과정에서 강한 오염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41796" y="3855363"/>
            <a:ext cx="489287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 Surgery(ES)</a:t>
            </a:r>
            <a:pPr algn="l" indent="0" marL="0">
              <a:lnSpc>
                <a:spcPts val="2350"/>
              </a:lnSpc>
              <a:buNone/>
            </a:pP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단어 임베딩을 뜯어 고침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199727" y="1601033"/>
            <a:ext cx="2960370" cy="36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Defense Setup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199727" y="2158365"/>
            <a:ext cx="37895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Fine-tuning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199727" y="2524006"/>
            <a:ext cx="37895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Fine-pruning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199727" y="2889647"/>
            <a:ext cx="37895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Fine-mixing(Sel)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199727" y="3255288"/>
            <a:ext cx="37895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Fine-mixing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199727" y="3620929"/>
            <a:ext cx="378952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ACC, ASR</a:t>
            </a:r>
            <a:endParaRPr lang="en-US" sz="14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773" y="4853821"/>
            <a:ext cx="6585466" cy="1265515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139" y="4853821"/>
            <a:ext cx="6567607" cy="126551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73" y="6269236"/>
            <a:ext cx="13302853" cy="12655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258" y="572929"/>
            <a:ext cx="5483304" cy="68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결과 분석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29258" y="1779151"/>
            <a:ext cx="5510927" cy="822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Single-Sentence Sentiment Classification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729258" y="2809756"/>
            <a:ext cx="551092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Stanford Sentiment Treebank (SST-2)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9258" y="3215997"/>
            <a:ext cx="551092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IMDb movie reviews (IMDB)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9258" y="3622238"/>
            <a:ext cx="551092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Amazon Reviews (Amazon)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9258" y="4163973"/>
            <a:ext cx="4832866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Two Sentence-Pair Classification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729258" y="4783455"/>
            <a:ext cx="551092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Quora Question Pairs (QQP)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9258" y="5189696"/>
            <a:ext cx="551092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 Natural Language Inference (QNLI)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56202" y="1779151"/>
            <a:ext cx="3698915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Additional Attack Method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756202" y="2398633"/>
            <a:ext cx="71525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Syntactic Trigger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56202" y="2804874"/>
            <a:ext cx="71525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Layer-wise Attack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56202" y="3211116"/>
            <a:ext cx="71525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Logit Anchoring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56202" y="3617357"/>
            <a:ext cx="71525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Adaptive Attack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56202" y="4159091"/>
            <a:ext cx="3912394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Additional Defense Method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756202" y="4778573"/>
            <a:ext cx="71525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ONION : 단어를 빼보며 Perplexity 비교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56202" y="5184815"/>
            <a:ext cx="71525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STRIP : 랜덤 단어 대체 후 Entropy 비교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56202" y="5591056"/>
            <a:ext cx="71525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 : Adversarial Perturbation 에 대한 robustness 비교</a:t>
            </a:r>
            <a:endParaRPr lang="en-US" sz="1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997" y="6366391"/>
            <a:ext cx="1431608" cy="1093827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690" y="6366391"/>
            <a:ext cx="1995011" cy="1093827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786" y="6366391"/>
            <a:ext cx="3302079" cy="1093827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951" y="6366391"/>
            <a:ext cx="2618423" cy="1093827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8459" y="6366391"/>
            <a:ext cx="3364944" cy="10938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9837" y="473035"/>
            <a:ext cx="4510207" cy="563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결과 해석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37" y="1379458"/>
            <a:ext cx="856893" cy="12753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8061" y="1550789"/>
            <a:ext cx="3003113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첫 번째 그림: 기본적인 공격 방어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628061" y="1935361"/>
            <a:ext cx="12402503" cy="54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Fine-tuning과 Fine-pruning은 Low-frequency 트리거를 효과적으로 방어하지 못했습니다. 반면, Fine-mixing 기법들은 ACC(정확도)를 유지하면서도 ASR(공격 성공률)을 크게 낮춰 뛰어난 방어 성능을 보였습니다. 이는 Rho 값 조정을 통해 ACC 임계치를 맞춘 결과입니다.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37" y="2654856"/>
            <a:ext cx="856893" cy="12753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28061" y="2826187"/>
            <a:ext cx="3625215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두 번째 그림: 어려운 태스크에서의 성능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628061" y="3210758"/>
            <a:ext cx="12402503" cy="54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더 복잡한 태스크에서는 기존 방어 방법들이 효과적이지 못했습니다. Fine-mixing도 초기에는 한계가 있었으나, Instance 수를 늘려 성능을 개선할 수 있었습니다. ACC 임계치를 맞추기 위해 Rho 값을 낮출 경우 공격에 취약해지는 경향이 있음을 확인했습니다.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37" y="3930253"/>
            <a:ext cx="856893" cy="12753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28061" y="4101584"/>
            <a:ext cx="3019544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세 번째 그림: E-PUR 기법의 영향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628061" y="4486156"/>
            <a:ext cx="12402503" cy="54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E-PUR (Embedding Purification) 기법을 적용했을 때 Fine-mixing은 더욱 좋은 결과를 보였습니다. 특히 Scratch 모델의 경우 Fine-mixing (Sel)보다 더 나은 성능을 나타냈습니다. Word + EP 공격의 경우 E-PUR 없이 방어하기 어려웠는데, 이는 Word-Embedding Layer의 중요성을 시사합니다.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37" y="5205651"/>
            <a:ext cx="856893" cy="12753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28061" y="5376982"/>
            <a:ext cx="3462933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네 번째 그림: 복잡한 공격에 대한 방어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628061" y="5761553"/>
            <a:ext cx="12402503" cy="54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Fine-mixing은 Syntactic, Layer-wise, Logit Anchoring과 같은 복잡하고 특정 공격에 치중된 최근 방어 기법들과 비교해도 뛰어난 방어력을 보여주었습니다. 이는 Fine-mixing이 다양한 형태의 정교한 백도어 공격에 강건함을 의미합니다.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37" y="6481048"/>
            <a:ext cx="856893" cy="127539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28061" y="6652379"/>
            <a:ext cx="3670221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다섯 번째 그림: 적응형 공격에 대한 저항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1628061" y="7036951"/>
            <a:ext cx="12402503" cy="54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가장 까다로운 시나리오 중 하나인 적응형 공격(Adaptive attack)에 대해서도 Fine-mixing은 효과적으로 방어하는 능력을 입증했습니다. 이는 공격자가 방어 기법의 존재를 인지하고 우회하려 할 때에도 Fine-mixing이 안정적인 성능을 발휘할 수 있음을 보여줍니다.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46942"/>
            <a:ext cx="651021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Fine-mixing의 장점 및 의의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169557" y="278261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사전학습 정보 활용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268742"/>
            <a:ext cx="426196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사전학습된 깨끗한 가중치를 활용한 최초의 NLP 백도어 방어법으로, 모델에 내재된 언어 지식을 보존합니다.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041" y="3661589"/>
            <a:ext cx="304681" cy="3807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10011" y="295596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간단하고 강력한 방법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610011" y="3442097"/>
            <a:ext cx="426208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구현이 간단하면서도 다양한 백도어 공격에 대해 강력한 방어 성능을 보여줍니다.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8440" y="3661589"/>
            <a:ext cx="304681" cy="3807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10011" y="541329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다층적 방어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610011" y="5899428"/>
            <a:ext cx="426208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E-PUR과 결합하여 임베딩 수준과 모델 전체 수준에서 백도어를 효과적으로 제거합니다.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8440" y="5332988"/>
            <a:ext cx="304681" cy="38076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169557" y="541329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성능 균형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8309" y="5899428"/>
            <a:ext cx="426196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백도어 제거와 원래 태스크 성능 유지 사이의 최적 균형점을 찾습니다.</a:t>
            </a:r>
            <a:endParaRPr lang="en-US" sz="17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041" y="5332988"/>
            <a:ext cx="304681" cy="3807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6571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각 요소별 필요성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219920"/>
            <a:ext cx="333672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섞기만 vs 섞고 파인튜닝까지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2792730"/>
            <a:ext cx="374689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그냥 섞기만 할 경우 이후 학습과정이 없어 큰 ACC 차이를 보임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41463" y="2219920"/>
            <a:ext cx="395632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섞고 파인튜닝 시 가중치 동결 여부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41463" y="2792730"/>
            <a:ext cx="401419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동결 시 학습이 힘들어 조금의 ACC 하락을 보임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591913" y="2219920"/>
            <a:ext cx="371296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가중치 랜덤 선택 vs 적게 변한거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591913" y="2792730"/>
            <a:ext cx="429529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랜덤하게 가중치를 Prune 시키는 방법이 더 넓은 optim 범위를 보임, 더 쉽게 백도어 예방</a:t>
            </a:r>
            <a:endParaRPr lang="en-US" sz="1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2078" y="3924776"/>
            <a:ext cx="9946124" cy="33391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28170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한계점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31933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948726" y="239375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Clean Dataset 필요성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48726" y="2879884"/>
            <a:ext cx="692336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방어 과정에서 소량이라도 깨끗한 데이터셋이 필요하므로, 완전히 데이터 독립적인 방어는 아닙니다.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44709" y="4006572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48726" y="408098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모델 유형 차이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948726" y="4567118"/>
            <a:ext cx="692336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처음부터 학습된(scratch) 모델과 사전학습된(pretrained) 모델 간의 차이에 따라 효과가 달라질 수 있습니다.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5693807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sx="100000" sy="100000" kx="0" ky="0" algn="bl" rotWithShape="0" blurRad="53340" dist="26670" dir="1350000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48726" y="576822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고급 백도어 취약성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948726" y="6254353"/>
            <a:ext cx="692336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구문 기반(phrase-based) 백도어와 같은 복잡한 형태의 공격에는 방어 효과가 제한적일 수 있습니다.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22813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결론 및 향후 연구 방향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2482334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주요 기여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58309" y="3126462"/>
            <a:ext cx="35493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Fine-mixing은 미세조정된 NLP 모델의 보안을 크게 강화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8309" y="3895606"/>
            <a:ext cx="35493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소량의 깨끗한 데이터만으로도 효과적인 백도어 완화 가능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8309" y="4664750"/>
            <a:ext cx="35493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사전학습 모델의 가중치 활용이라는 새로운 패러다임 제시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843939" y="2482334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향후 연구 방향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4843939" y="3126462"/>
            <a:ext cx="35493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대규모 언어모델(LLM)에 대한 백도어 방어 연구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43939" y="3895606"/>
            <a:ext cx="35493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다양한 유형의 복잡한 백도어 공격 대응 기법 개발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843939" y="4664750"/>
            <a:ext cx="35493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데이터 의존성을 더욱 줄인 방어 방법 연구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843939" y="5433893"/>
            <a:ext cx="35493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모델 성능과 보안 사이의 최적 균형점 탐색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58309" y="6446758"/>
            <a:ext cx="7627382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Zhang, Z., Lyu, L., Ma, X., Wang, C., &amp; Sun, X. (2022). Fine-mixing: Mitigating Backdoors in Fine-tuned Language Models. </a:t>
            </a:r>
            <a:pPr algn="l" indent="0" marL="0">
              <a:lnSpc>
                <a:spcPts val="2150"/>
              </a:lnSpc>
              <a:buNone/>
            </a:pPr>
            <a:r>
              <a:rPr lang="en-US" sz="1350" i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ArXiv, abs/2210.09545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2025-07-16T09:08:06Z</dcterms:created>
  <dcterms:modified xsi:type="dcterms:W3CDTF">2025-07-16T09:08:06Z</dcterms:modified>
</cp:coreProperties>
</file>